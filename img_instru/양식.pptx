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028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418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1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06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57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58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73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35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0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44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061F9-28FD-4F90-9A25-0C7BC852A0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2B92FD-3AAD-4B1A-89F2-B09D0DA14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2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emf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39197" y="7262477"/>
            <a:ext cx="4418804" cy="0"/>
          </a:xfrm>
          <a:prstGeom prst="line">
            <a:avLst/>
          </a:prstGeom>
          <a:ln w="9525" cap="flat">
            <a:solidFill>
              <a:srgbClr val="616D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634"/>
          </a:p>
        </p:txBody>
      </p:sp>
      <p:sp>
        <p:nvSpPr>
          <p:cNvPr id="4" name="AutoShape 4"/>
          <p:cNvSpPr/>
          <p:nvPr/>
        </p:nvSpPr>
        <p:spPr>
          <a:xfrm>
            <a:off x="2439817" y="3253076"/>
            <a:ext cx="4418184" cy="0"/>
          </a:xfrm>
          <a:prstGeom prst="line">
            <a:avLst/>
          </a:prstGeom>
          <a:ln w="9525" cap="flat">
            <a:solidFill>
              <a:srgbClr val="616D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634"/>
          </a:p>
        </p:txBody>
      </p:sp>
      <p:grpSp>
        <p:nvGrpSpPr>
          <p:cNvPr id="5" name="Group 5"/>
          <p:cNvGrpSpPr/>
          <p:nvPr/>
        </p:nvGrpSpPr>
        <p:grpSpPr>
          <a:xfrm>
            <a:off x="25639" y="1123889"/>
            <a:ext cx="6861176" cy="8684067"/>
            <a:chOff x="0" y="-85725"/>
            <a:chExt cx="2709333" cy="3429154"/>
          </a:xfrm>
          <a:solidFill>
            <a:srgbClr val="2537DF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3" cy="581582"/>
            </a:xfrm>
            <a:custGeom>
              <a:avLst/>
              <a:gdLst/>
              <a:ahLst/>
              <a:cxnLst/>
              <a:rect l="l" t="t" r="r" b="b"/>
              <a:pathLst>
                <a:path w="2709333" h="581582">
                  <a:moveTo>
                    <a:pt x="0" y="0"/>
                  </a:moveTo>
                  <a:lnTo>
                    <a:pt x="2709333" y="0"/>
                  </a:lnTo>
                  <a:lnTo>
                    <a:pt x="2709333" y="581582"/>
                  </a:lnTo>
                  <a:lnTo>
                    <a:pt x="0" y="58158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 sz="1634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709333" cy="667307"/>
            </a:xfrm>
            <a:prstGeom prst="rect">
              <a:avLst/>
            </a:prstGeom>
            <a:grpFill/>
          </p:spPr>
          <p:txBody>
            <a:bodyPr lIns="46104" tIns="46104" rIns="46104" bIns="46104" rtlCol="0" anchor="ctr"/>
            <a:lstStyle/>
            <a:p>
              <a:pPr algn="ctr">
                <a:lnSpc>
                  <a:spcPts val="2012"/>
                </a:lnSpc>
              </a:pPr>
              <a:endParaRPr sz="1634"/>
            </a:p>
          </p:txBody>
        </p:sp>
        <p:sp>
          <p:nvSpPr>
            <p:cNvPr id="131" name="TextBox 7">
              <a:extLst>
                <a:ext uri="{FF2B5EF4-FFF2-40B4-BE49-F238E27FC236}">
                  <a16:creationId xmlns:a16="http://schemas.microsoft.com/office/drawing/2014/main" id="{4F8236FD-5486-BC36-7325-C0ACB527E52C}"/>
                </a:ext>
              </a:extLst>
            </p:cNvPr>
            <p:cNvSpPr txBox="1"/>
            <p:nvPr/>
          </p:nvSpPr>
          <p:spPr>
            <a:xfrm>
              <a:off x="0" y="3126197"/>
              <a:ext cx="2709333" cy="217232"/>
            </a:xfrm>
            <a:prstGeom prst="rect">
              <a:avLst/>
            </a:prstGeom>
            <a:grpFill/>
          </p:spPr>
          <p:txBody>
            <a:bodyPr lIns="46104" tIns="46104" rIns="46104" bIns="46104" rtlCol="0" anchor="ctr"/>
            <a:lstStyle/>
            <a:p>
              <a:pPr algn="ctr">
                <a:lnSpc>
                  <a:spcPts val="2012"/>
                </a:lnSpc>
              </a:pPr>
              <a:endParaRPr sz="1634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0533"/>
            <a:ext cx="2439816" cy="9703667"/>
          </a:xfrm>
          <a:custGeom>
            <a:avLst/>
            <a:gdLst/>
            <a:ahLst/>
            <a:cxnLst/>
            <a:rect l="l" t="t" r="r" b="b"/>
            <a:pathLst>
              <a:path w="963432" h="3831772">
                <a:moveTo>
                  <a:pt x="0" y="0"/>
                </a:moveTo>
                <a:lnTo>
                  <a:pt x="963432" y="0"/>
                </a:lnTo>
                <a:lnTo>
                  <a:pt x="963432" y="3831772"/>
                </a:lnTo>
                <a:lnTo>
                  <a:pt x="0" y="3831772"/>
                </a:lnTo>
                <a:close/>
              </a:path>
            </a:pathLst>
          </a:custGeom>
          <a:solidFill>
            <a:srgbClr val="2537DF"/>
          </a:solidFill>
        </p:spPr>
        <p:txBody>
          <a:bodyPr/>
          <a:lstStyle/>
          <a:p>
            <a:endParaRPr lang="ko-KR" altLang="en-US" sz="1634"/>
          </a:p>
        </p:txBody>
      </p:sp>
      <p:sp>
        <p:nvSpPr>
          <p:cNvPr id="10" name="TextBox 10"/>
          <p:cNvSpPr txBox="1"/>
          <p:nvPr/>
        </p:nvSpPr>
        <p:spPr>
          <a:xfrm>
            <a:off x="0" y="-140680"/>
            <a:ext cx="2439816" cy="9944877"/>
          </a:xfrm>
          <a:prstGeom prst="rect">
            <a:avLst/>
          </a:prstGeom>
        </p:spPr>
        <p:txBody>
          <a:bodyPr lIns="46104" tIns="46104" rIns="46104" bIns="46104" rtlCol="0" anchor="ctr"/>
          <a:lstStyle/>
          <a:p>
            <a:pPr algn="ctr">
              <a:lnSpc>
                <a:spcPts val="1952"/>
              </a:lnSpc>
            </a:pPr>
            <a:endParaRPr sz="1634"/>
          </a:p>
        </p:txBody>
      </p:sp>
      <p:sp>
        <p:nvSpPr>
          <p:cNvPr id="44" name="TextBox 44"/>
          <p:cNvSpPr txBox="1"/>
          <p:nvPr/>
        </p:nvSpPr>
        <p:spPr>
          <a:xfrm>
            <a:off x="2736073" y="1426029"/>
            <a:ext cx="3597492" cy="620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33"/>
              </a:lnSpc>
            </a:pPr>
            <a:r>
              <a:rPr lang="ko-KR" altLang="en-US" sz="3667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이 혜</a:t>
            </a:r>
            <a:r>
              <a:rPr lang="en-US" sz="3667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 </a:t>
            </a:r>
            <a:r>
              <a:rPr lang="ko-KR" altLang="en-US" sz="3667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진  </a:t>
            </a:r>
            <a:r>
              <a:rPr lang="ko-KR" altLang="en-US" sz="1815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교육이사</a:t>
            </a:r>
            <a:endParaRPr lang="en-US" sz="1815" b="1">
              <a:solidFill>
                <a:schemeClr val="accent6">
                  <a:lumMod val="40000"/>
                  <a:lumOff val="60000"/>
                </a:schemeClr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둥근펜 Bold"/>
              <a:sym typeface="둥근펜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754576" y="2894297"/>
            <a:ext cx="1956541" cy="2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87"/>
              </a:lnSpc>
            </a:pPr>
            <a:r>
              <a:rPr lang="ko-KR" altLang="en-US" sz="1634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강의분야</a:t>
            </a:r>
            <a:endParaRPr lang="en-US" sz="1634" b="1">
              <a:solidFill>
                <a:srgbClr val="0D282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둥근펜 Bold"/>
              <a:sym typeface="둥근펜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2754577" y="6889376"/>
            <a:ext cx="812736" cy="279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87"/>
              </a:lnSpc>
            </a:pPr>
            <a:r>
              <a:rPr lang="en-US" sz="1634" b="1">
                <a:solidFill>
                  <a:srgbClr val="0D282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둥근펜 Bold"/>
                <a:sym typeface="둥근펜 Bold"/>
              </a:rPr>
              <a:t>경력사항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768097" y="3777343"/>
            <a:ext cx="1006685" cy="843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  <a:sym typeface="둥근펜"/>
              </a:rPr>
              <a:t>관공서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  <a:sym typeface="둥근펜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기업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학교</a:t>
            </a:r>
            <a:endParaRPr lang="en-US" sz="1271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278105" y="4044669"/>
            <a:ext cx="1746296" cy="2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87"/>
              </a:lnSpc>
            </a:pPr>
            <a:r>
              <a:rPr lang="en-US" sz="1634" b="1">
                <a:solidFill>
                  <a:srgbClr val="FFFFFF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Profile</a:t>
            </a:r>
          </a:p>
        </p:txBody>
      </p:sp>
      <p:pic>
        <p:nvPicPr>
          <p:cNvPr id="85" name="그림 84" descr="그래픽, 로고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C7B2A3-B632-46E4-84B3-791285F4E2F4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082" y="250557"/>
            <a:ext cx="788702" cy="760534"/>
          </a:xfrm>
          <a:prstGeom prst="rect">
            <a:avLst/>
          </a:prstGeom>
        </p:spPr>
      </p:pic>
      <p:pic>
        <p:nvPicPr>
          <p:cNvPr id="87" name="그림 86" descr="폰트, 로고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C42DF6-2E51-4036-2C7C-A94F42DEB4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79" y="258019"/>
            <a:ext cx="751345" cy="724319"/>
          </a:xfrm>
          <a:prstGeom prst="rect">
            <a:avLst/>
          </a:prstGeom>
        </p:spPr>
      </p:pic>
      <p:pic>
        <p:nvPicPr>
          <p:cNvPr id="81" name="그림 80" descr="인간의 얼굴, 사람, 의류, 인물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2FCF4B-C4C4-1206-789D-2A9CE9A63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10" y="250372"/>
            <a:ext cx="1759037" cy="2635217"/>
          </a:xfrm>
          <a:prstGeom prst="rect">
            <a:avLst/>
          </a:prstGeom>
        </p:spPr>
      </p:pic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A00B5D8F-2619-C306-C2FF-549B61875FD3}"/>
              </a:ext>
            </a:extLst>
          </p:cNvPr>
          <p:cNvGrpSpPr/>
          <p:nvPr/>
        </p:nvGrpSpPr>
        <p:grpSpPr>
          <a:xfrm>
            <a:off x="386123" y="2903401"/>
            <a:ext cx="1663018" cy="345782"/>
            <a:chOff x="428202" y="3517900"/>
            <a:chExt cx="1832400" cy="381000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AB1B95AE-5DB6-30DE-348B-BA0C70F43460}"/>
                </a:ext>
              </a:extLst>
            </p:cNvPr>
            <p:cNvSpPr/>
            <p:nvPr/>
          </p:nvSpPr>
          <p:spPr>
            <a:xfrm>
              <a:off x="428202" y="3517900"/>
              <a:ext cx="1832400" cy="381000"/>
            </a:xfrm>
            <a:prstGeom prst="rect">
              <a:avLst/>
            </a:prstGeom>
            <a:solidFill>
              <a:srgbClr val="01C7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4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626D33BB-67A8-A509-2FD2-6B18DEC3ACC9}"/>
                </a:ext>
              </a:extLst>
            </p:cNvPr>
            <p:cNvSpPr/>
            <p:nvPr/>
          </p:nvSpPr>
          <p:spPr>
            <a:xfrm>
              <a:off x="849600" y="3557975"/>
              <a:ext cx="1368000" cy="30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4"/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D02FBBBD-B9BD-8BFA-2791-932BC5162CCA}"/>
                </a:ext>
              </a:extLst>
            </p:cNvPr>
            <p:cNvGrpSpPr/>
            <p:nvPr/>
          </p:nvGrpSpPr>
          <p:grpSpPr>
            <a:xfrm>
              <a:off x="531218" y="3590234"/>
              <a:ext cx="215367" cy="236331"/>
              <a:chOff x="542458" y="3590100"/>
              <a:chExt cx="215367" cy="236331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CE42AC0C-711B-5A9C-F6B8-752044659501}"/>
                  </a:ext>
                </a:extLst>
              </p:cNvPr>
              <p:cNvSpPr/>
              <p:nvPr/>
            </p:nvSpPr>
            <p:spPr>
              <a:xfrm>
                <a:off x="542458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34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9BF249CF-0EBD-C87A-35A8-7DD0661861B2}"/>
                  </a:ext>
                </a:extLst>
              </p:cNvPr>
              <p:cNvSpPr/>
              <p:nvPr/>
            </p:nvSpPr>
            <p:spPr>
              <a:xfrm>
                <a:off x="696625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34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ED89D70F-14D5-C8E2-A62F-B120298465AB}"/>
                  </a:ext>
                </a:extLst>
              </p:cNvPr>
              <p:cNvSpPr/>
              <p:nvPr/>
            </p:nvSpPr>
            <p:spPr>
              <a:xfrm rot="19268197">
                <a:off x="614616" y="3590100"/>
                <a:ext cx="71051" cy="23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34"/>
              </a:p>
            </p:txBody>
          </p:sp>
        </p:grp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624E877E-7413-464E-2984-F2A22EEE892B}"/>
              </a:ext>
            </a:extLst>
          </p:cNvPr>
          <p:cNvGrpSpPr/>
          <p:nvPr/>
        </p:nvGrpSpPr>
        <p:grpSpPr>
          <a:xfrm>
            <a:off x="386123" y="3293248"/>
            <a:ext cx="1663018" cy="345782"/>
            <a:chOff x="428202" y="3517900"/>
            <a:chExt cx="1832400" cy="381000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B6E81261-600E-61A2-3D98-D149A1663DD7}"/>
                </a:ext>
              </a:extLst>
            </p:cNvPr>
            <p:cNvSpPr/>
            <p:nvPr/>
          </p:nvSpPr>
          <p:spPr>
            <a:xfrm>
              <a:off x="428202" y="3517900"/>
              <a:ext cx="1832400" cy="381000"/>
            </a:xfrm>
            <a:prstGeom prst="rect">
              <a:avLst/>
            </a:prstGeom>
            <a:solidFill>
              <a:srgbClr val="01C7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4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89F5186-2EA5-A5B4-154B-1523BFFD5F15}"/>
                </a:ext>
              </a:extLst>
            </p:cNvPr>
            <p:cNvSpPr/>
            <p:nvPr/>
          </p:nvSpPr>
          <p:spPr>
            <a:xfrm>
              <a:off x="849600" y="3557975"/>
              <a:ext cx="1368000" cy="30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4"/>
            </a:p>
          </p:txBody>
        </p: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68A66C60-CA0C-79FC-0EE1-A79D718F0B07}"/>
                </a:ext>
              </a:extLst>
            </p:cNvPr>
            <p:cNvGrpSpPr/>
            <p:nvPr/>
          </p:nvGrpSpPr>
          <p:grpSpPr>
            <a:xfrm>
              <a:off x="531218" y="3590234"/>
              <a:ext cx="215367" cy="236331"/>
              <a:chOff x="542458" y="3590100"/>
              <a:chExt cx="215367" cy="236331"/>
            </a:xfrm>
          </p:grpSpPr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03988397-3C21-8F64-D5FF-94B2ADF733B6}"/>
                  </a:ext>
                </a:extLst>
              </p:cNvPr>
              <p:cNvSpPr/>
              <p:nvPr/>
            </p:nvSpPr>
            <p:spPr>
              <a:xfrm>
                <a:off x="542458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34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F852D541-FBAA-B6CC-712E-450B71AC236F}"/>
                  </a:ext>
                </a:extLst>
              </p:cNvPr>
              <p:cNvSpPr/>
              <p:nvPr/>
            </p:nvSpPr>
            <p:spPr>
              <a:xfrm>
                <a:off x="696625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34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8363CAEE-1FE3-4CA8-100B-EE6B870F7358}"/>
                  </a:ext>
                </a:extLst>
              </p:cNvPr>
              <p:cNvSpPr/>
              <p:nvPr/>
            </p:nvSpPr>
            <p:spPr>
              <a:xfrm rot="19268197">
                <a:off x="614616" y="3590100"/>
                <a:ext cx="71051" cy="23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34"/>
              </a:p>
            </p:txBody>
          </p: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60FD4E38-C5C7-AE87-FB8B-2E2BF3CE086C}"/>
              </a:ext>
            </a:extLst>
          </p:cNvPr>
          <p:cNvSpPr txBox="1"/>
          <p:nvPr/>
        </p:nvSpPr>
        <p:spPr>
          <a:xfrm>
            <a:off x="596859" y="2942136"/>
            <a:ext cx="1530609" cy="2514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832463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89" spc="-136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(</a:t>
            </a:r>
            <a:r>
              <a:rPr lang="ko-KR" altLang="en-US" sz="1089" spc="-136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주</a:t>
            </a:r>
            <a:r>
              <a:rPr lang="en-US" altLang="ko-KR" sz="1089" spc="-136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)</a:t>
            </a:r>
            <a:r>
              <a:rPr lang="ko-KR" altLang="en-US" sz="1089" spc="-136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디클레이 이혜진</a:t>
            </a:r>
            <a:endParaRPr lang="ko-KR" altLang="en-US" sz="1089" spc="-136" dirty="0">
              <a:ln>
                <a:solidFill>
                  <a:srgbClr val="53585F">
                    <a:alpha val="30000"/>
                  </a:srgbClr>
                </a:solidFill>
              </a:ln>
              <a:solidFill>
                <a:schemeClr val="tx2">
                  <a:lumMod val="10000"/>
                </a:schemeClr>
              </a:solidFill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BA44E60-F7CF-2E9B-0AD0-EE6AF167B170}"/>
              </a:ext>
            </a:extLst>
          </p:cNvPr>
          <p:cNvSpPr txBox="1"/>
          <p:nvPr/>
        </p:nvSpPr>
        <p:spPr>
          <a:xfrm>
            <a:off x="596859" y="3365682"/>
            <a:ext cx="1530609" cy="219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832463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953" spc="-136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미래디지털 </a:t>
            </a:r>
            <a:r>
              <a:rPr lang="en-US" altLang="ko-KR" sz="953" spc="-136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AI </a:t>
            </a:r>
            <a:r>
              <a:rPr lang="ko-KR" altLang="en-US" sz="953" spc="-136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협회 이혜진</a:t>
            </a:r>
            <a:endParaRPr lang="ko-KR" altLang="en-US" sz="953" spc="-136" dirty="0">
              <a:ln>
                <a:solidFill>
                  <a:srgbClr val="53585F">
                    <a:alpha val="30000"/>
                  </a:srgbClr>
                </a:solidFill>
              </a:ln>
              <a:solidFill>
                <a:schemeClr val="tx2">
                  <a:lumMod val="10000"/>
                </a:schemeClr>
              </a:solidFill>
              <a:latin typeface="+mn-ea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553E4F2-F5CE-87F7-AEE8-F8A466444E31}"/>
              </a:ext>
            </a:extLst>
          </p:cNvPr>
          <p:cNvSpPr/>
          <p:nvPr/>
        </p:nvSpPr>
        <p:spPr>
          <a:xfrm>
            <a:off x="66741" y="4491626"/>
            <a:ext cx="2372455" cy="282551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데이터거래사</a:t>
            </a:r>
            <a:endParaRPr lang="en-US" altLang="ko-KR" sz="1089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ko-KR" sz="1089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89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과학기술정보통신부 등록</a:t>
            </a:r>
            <a:r>
              <a:rPr lang="en-US" altLang="ko-KR" sz="1089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endParaRPr lang="en-US" altLang="ko-KR" sz="1089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K-DT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직업능력개발훈련교사</a:t>
            </a: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ko-KR" sz="1089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89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고용노동부 자격</a:t>
            </a:r>
            <a:r>
              <a:rPr lang="en-US" altLang="ko-KR" sz="1089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미래디지털</a:t>
            </a: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협회 교육이사</a:t>
            </a: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대표전임강사</a:t>
            </a:r>
            <a:endParaRPr lang="en-US" altLang="ko-KR" sz="1089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The ESG Times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수석기자</a:t>
            </a:r>
            <a:endParaRPr lang="en-US" altLang="ko-KR" sz="1089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경인교육대학원 교육학 석사 과정</a:t>
            </a:r>
            <a:endParaRPr lang="en-US" altLang="ko-KR" sz="1089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현</a:t>
            </a: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디클레이 대표</a:t>
            </a:r>
            <a:endParaRPr lang="en-US" altLang="ko-KR" sz="1089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전</a:t>
            </a: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총무처 행정직 공무원</a:t>
            </a:r>
            <a:endParaRPr lang="en-US" altLang="ko-KR" sz="1089" b="1" dirty="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전</a:t>
            </a:r>
            <a:r>
              <a:rPr lang="en-US" altLang="ko-KR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089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근로복지공단 보상부</a:t>
            </a:r>
            <a:endParaRPr lang="ko-KR" altLang="en-US" sz="1089" b="1" dirty="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C00E7C9-A72C-E280-7663-C55F1E1BFCA4}"/>
              </a:ext>
            </a:extLst>
          </p:cNvPr>
          <p:cNvSpPr txBox="1"/>
          <p:nvPr/>
        </p:nvSpPr>
        <p:spPr>
          <a:xfrm>
            <a:off x="2668281" y="2137476"/>
            <a:ext cx="4124886" cy="357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271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미래디지털</a:t>
            </a:r>
            <a:r>
              <a:rPr lang="en-US" altLang="ko-KR" sz="1271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AI</a:t>
            </a:r>
            <a:r>
              <a:rPr lang="ko-KR" altLang="en-US" sz="1271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협회  </a:t>
            </a:r>
            <a:r>
              <a:rPr lang="en-US" altLang="ko-KR" sz="1271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AI</a:t>
            </a:r>
            <a:r>
              <a:rPr lang="ko-KR" altLang="en-US" sz="1271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분야 대표전임강사</a:t>
            </a:r>
            <a:endParaRPr lang="en-US" altLang="ko-KR" sz="1271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2ED21355-B0E9-6CDD-6249-C0AC1074BAE1}"/>
              </a:ext>
            </a:extLst>
          </p:cNvPr>
          <p:cNvSpPr/>
          <p:nvPr/>
        </p:nvSpPr>
        <p:spPr>
          <a:xfrm>
            <a:off x="2668281" y="3362406"/>
            <a:ext cx="1590595" cy="365460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56EF3D4D-A788-975B-86A4-1B69B88695C5}"/>
              </a:ext>
            </a:extLst>
          </p:cNvPr>
          <p:cNvSpPr/>
          <p:nvPr/>
        </p:nvSpPr>
        <p:spPr>
          <a:xfrm>
            <a:off x="4792609" y="3362406"/>
            <a:ext cx="1590595" cy="365460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22" name="TextBox 57">
            <a:extLst>
              <a:ext uri="{FF2B5EF4-FFF2-40B4-BE49-F238E27FC236}">
                <a16:creationId xmlns:a16="http://schemas.microsoft.com/office/drawing/2014/main" id="{D8E8BA1B-3174-E906-B41C-71B2CC42217A}"/>
              </a:ext>
            </a:extLst>
          </p:cNvPr>
          <p:cNvSpPr txBox="1"/>
          <p:nvPr/>
        </p:nvSpPr>
        <p:spPr>
          <a:xfrm>
            <a:off x="3125678" y="3463324"/>
            <a:ext cx="866057" cy="174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24"/>
              </a:lnSpc>
            </a:pPr>
            <a:r>
              <a:rPr lang="ko-KR" altLang="en-US" sz="1452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교육분야</a:t>
            </a:r>
            <a:endParaRPr lang="en-US" sz="1452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23" name="TextBox 57">
            <a:extLst>
              <a:ext uri="{FF2B5EF4-FFF2-40B4-BE49-F238E27FC236}">
                <a16:creationId xmlns:a16="http://schemas.microsoft.com/office/drawing/2014/main" id="{1C98C2DD-4227-7243-1D1C-C5974D56248E}"/>
              </a:ext>
            </a:extLst>
          </p:cNvPr>
          <p:cNvSpPr txBox="1"/>
          <p:nvPr/>
        </p:nvSpPr>
        <p:spPr>
          <a:xfrm>
            <a:off x="4952934" y="3463324"/>
            <a:ext cx="1242319" cy="174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24"/>
              </a:lnSpc>
            </a:pPr>
            <a:r>
              <a:rPr lang="en-US" sz="1452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DX </a:t>
            </a:r>
            <a:r>
              <a:rPr lang="ko-KR" altLang="en-US" sz="1452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디지털 전환</a:t>
            </a:r>
            <a:endParaRPr lang="en-US" sz="1452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24" name="TextBox 55">
            <a:extLst>
              <a:ext uri="{FF2B5EF4-FFF2-40B4-BE49-F238E27FC236}">
                <a16:creationId xmlns:a16="http://schemas.microsoft.com/office/drawing/2014/main" id="{58ECFE8A-377B-4B7C-6C68-60F8FC5C9B06}"/>
              </a:ext>
            </a:extLst>
          </p:cNvPr>
          <p:cNvSpPr txBox="1"/>
          <p:nvPr/>
        </p:nvSpPr>
        <p:spPr>
          <a:xfrm>
            <a:off x="4952934" y="3777343"/>
            <a:ext cx="1644894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생성형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AI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활용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마케팅 전략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윤리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/AI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리터러시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데이터분석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시각화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자동화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바이브 코딩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sym typeface="둥근펜"/>
            </a:endParaRPr>
          </a:p>
        </p:txBody>
      </p:sp>
      <p:sp>
        <p:nvSpPr>
          <p:cNvPr id="125" name="TextBox 55">
            <a:extLst>
              <a:ext uri="{FF2B5EF4-FFF2-40B4-BE49-F238E27FC236}">
                <a16:creationId xmlns:a16="http://schemas.microsoft.com/office/drawing/2014/main" id="{2364A4E5-B3D5-ABEC-CF59-BCD7497E35E2}"/>
              </a:ext>
            </a:extLst>
          </p:cNvPr>
          <p:cNvSpPr txBox="1"/>
          <p:nvPr/>
        </p:nvSpPr>
        <p:spPr>
          <a:xfrm>
            <a:off x="2768097" y="5465327"/>
            <a:ext cx="1943021" cy="977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  <a:sym typeface="둥근펜"/>
              </a:rPr>
              <a:t>신입사원 교육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  <a:sym typeface="둥근펜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임직원 역량강화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사원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.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임원 온보딩 교육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. DX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리더십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 .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커뮤니케이션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소통</a:t>
            </a:r>
            <a:endParaRPr lang="en-US" sz="1271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CF65912-EAF7-AE47-7CF4-6EDAA4FC34F9}"/>
              </a:ext>
            </a:extLst>
          </p:cNvPr>
          <p:cNvSpPr/>
          <p:nvPr/>
        </p:nvSpPr>
        <p:spPr>
          <a:xfrm>
            <a:off x="2668281" y="5050389"/>
            <a:ext cx="1590595" cy="365460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8B0FAF55-7F69-07E0-6F11-AF545C05192B}"/>
              </a:ext>
            </a:extLst>
          </p:cNvPr>
          <p:cNvSpPr/>
          <p:nvPr/>
        </p:nvSpPr>
        <p:spPr>
          <a:xfrm>
            <a:off x="4792609" y="5050389"/>
            <a:ext cx="1590595" cy="365460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28" name="TextBox 55">
            <a:extLst>
              <a:ext uri="{FF2B5EF4-FFF2-40B4-BE49-F238E27FC236}">
                <a16:creationId xmlns:a16="http://schemas.microsoft.com/office/drawing/2014/main" id="{7D9C518A-E968-07D6-C59F-090C90080ED7}"/>
              </a:ext>
            </a:extLst>
          </p:cNvPr>
          <p:cNvSpPr txBox="1"/>
          <p:nvPr/>
        </p:nvSpPr>
        <p:spPr>
          <a:xfrm>
            <a:off x="4952934" y="5465326"/>
            <a:ext cx="1644894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활용 보고서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활용 공문서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Tool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업무 활용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PBL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수업 적용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. PPT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스킬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퍼실리테이션</a:t>
            </a:r>
            <a:endParaRPr lang="en-US" altLang="ko-KR" sz="1271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sp>
        <p:nvSpPr>
          <p:cNvPr id="129" name="TextBox 57">
            <a:extLst>
              <a:ext uri="{FF2B5EF4-FFF2-40B4-BE49-F238E27FC236}">
                <a16:creationId xmlns:a16="http://schemas.microsoft.com/office/drawing/2014/main" id="{48DE5AA8-3E09-1859-16B2-0F07C630A6C1}"/>
              </a:ext>
            </a:extLst>
          </p:cNvPr>
          <p:cNvSpPr txBox="1"/>
          <p:nvPr/>
        </p:nvSpPr>
        <p:spPr>
          <a:xfrm>
            <a:off x="3047037" y="5148766"/>
            <a:ext cx="866057" cy="174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24"/>
              </a:lnSpc>
            </a:pPr>
            <a:r>
              <a:rPr lang="ko-KR" altLang="en-US" sz="1452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계층 리더십</a:t>
            </a:r>
            <a:endParaRPr lang="en-US" sz="1452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30" name="TextBox 57">
            <a:extLst>
              <a:ext uri="{FF2B5EF4-FFF2-40B4-BE49-F238E27FC236}">
                <a16:creationId xmlns:a16="http://schemas.microsoft.com/office/drawing/2014/main" id="{9DA6DAA2-26A0-C8CF-CE71-108EEFF750B0}"/>
              </a:ext>
            </a:extLst>
          </p:cNvPr>
          <p:cNvSpPr txBox="1"/>
          <p:nvPr/>
        </p:nvSpPr>
        <p:spPr>
          <a:xfrm>
            <a:off x="4881283" y="5148766"/>
            <a:ext cx="1380631" cy="174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24"/>
              </a:lnSpc>
            </a:pPr>
            <a:r>
              <a:rPr lang="ko-KR" altLang="en-US" sz="1452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비즈니스 공통 스킬</a:t>
            </a:r>
            <a:endParaRPr lang="en-US" sz="1452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32" name="TextBox 44">
            <a:extLst>
              <a:ext uri="{FF2B5EF4-FFF2-40B4-BE49-F238E27FC236}">
                <a16:creationId xmlns:a16="http://schemas.microsoft.com/office/drawing/2014/main" id="{BF974FA3-5051-076A-96B8-3ED780FC69CE}"/>
              </a:ext>
            </a:extLst>
          </p:cNvPr>
          <p:cNvSpPr txBox="1"/>
          <p:nvPr/>
        </p:nvSpPr>
        <p:spPr>
          <a:xfrm>
            <a:off x="25639" y="9138386"/>
            <a:ext cx="6861176" cy="537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3"/>
              </a:lnSpc>
            </a:pPr>
            <a:r>
              <a:rPr lang="ko-KR" altLang="en-US" sz="1634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강사섭외 </a:t>
            </a:r>
            <a:r>
              <a:rPr lang="en-US" altLang="ko-KR" sz="1634" b="1" spc="-152">
                <a:ln>
                  <a:solidFill>
                    <a:srgbClr val="53585F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|</a:t>
            </a:r>
            <a:r>
              <a:rPr lang="ko-KR" altLang="en-US" sz="1634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  대표번호  </a:t>
            </a:r>
            <a:r>
              <a:rPr lang="en-US" altLang="ko-KR" sz="1634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010-7374-1270  </a:t>
            </a:r>
            <a:r>
              <a:rPr lang="ko-KR" altLang="en-US" sz="1634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미래디지털</a:t>
            </a:r>
            <a:r>
              <a:rPr lang="en-US" altLang="ko-KR" sz="1634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AI</a:t>
            </a:r>
            <a:r>
              <a:rPr lang="ko-KR" altLang="en-US" sz="1634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협회장 서순례</a:t>
            </a:r>
            <a:endParaRPr lang="en-US" sz="1634" b="1">
              <a:solidFill>
                <a:srgbClr val="FAE8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둥근펜 Bold"/>
              <a:sym typeface="둥근펜 Bold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CFDAD977-5BC3-13F6-33A1-12847068B19C}"/>
              </a:ext>
            </a:extLst>
          </p:cNvPr>
          <p:cNvSpPr/>
          <p:nvPr/>
        </p:nvSpPr>
        <p:spPr>
          <a:xfrm>
            <a:off x="5195604" y="7952178"/>
            <a:ext cx="764531" cy="591368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6ACDB5B8-A5EC-22C5-F079-FF62720ACC0B}"/>
              </a:ext>
            </a:extLst>
          </p:cNvPr>
          <p:cNvSpPr/>
          <p:nvPr/>
        </p:nvSpPr>
        <p:spPr>
          <a:xfrm>
            <a:off x="5190530" y="7326489"/>
            <a:ext cx="765502" cy="589593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B02EE492-564E-F2A2-BBB2-27CD93D949B3}"/>
              </a:ext>
            </a:extLst>
          </p:cNvPr>
          <p:cNvSpPr/>
          <p:nvPr/>
        </p:nvSpPr>
        <p:spPr>
          <a:xfrm>
            <a:off x="5984191" y="7952178"/>
            <a:ext cx="764531" cy="591368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3AE838A1-8D09-D6E1-8F68-BE66F51CD3A0}"/>
              </a:ext>
            </a:extLst>
          </p:cNvPr>
          <p:cNvSpPr/>
          <p:nvPr/>
        </p:nvSpPr>
        <p:spPr>
          <a:xfrm>
            <a:off x="5975636" y="7321590"/>
            <a:ext cx="764531" cy="591368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E5A0AF82-EEEB-0DF4-13D9-E2411E4E94FC}"/>
              </a:ext>
            </a:extLst>
          </p:cNvPr>
          <p:cNvSpPr/>
          <p:nvPr/>
        </p:nvSpPr>
        <p:spPr>
          <a:xfrm>
            <a:off x="5984191" y="8579643"/>
            <a:ext cx="764531" cy="591368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399AA63C-1FDC-03BF-DC5D-CE1BAACB1800}"/>
              </a:ext>
            </a:extLst>
          </p:cNvPr>
          <p:cNvSpPr/>
          <p:nvPr/>
        </p:nvSpPr>
        <p:spPr>
          <a:xfrm>
            <a:off x="5211104" y="8579643"/>
            <a:ext cx="764531" cy="591368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4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370D3B5-D558-9C55-FD8B-E114420983FA}"/>
              </a:ext>
            </a:extLst>
          </p:cNvPr>
          <p:cNvSpPr txBox="1"/>
          <p:nvPr/>
        </p:nvSpPr>
        <p:spPr>
          <a:xfrm>
            <a:off x="2460812" y="466549"/>
            <a:ext cx="3510505" cy="315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52" b="1"/>
              <a:t>https://cafe.naver.com/mydigitalai</a:t>
            </a:r>
          </a:p>
        </p:txBody>
      </p:sp>
      <p:sp>
        <p:nvSpPr>
          <p:cNvPr id="141" name="TextBox 55">
            <a:extLst>
              <a:ext uri="{FF2B5EF4-FFF2-40B4-BE49-F238E27FC236}">
                <a16:creationId xmlns:a16="http://schemas.microsoft.com/office/drawing/2014/main" id="{213EF634-E51A-9913-1064-5262A13C962E}"/>
              </a:ext>
            </a:extLst>
          </p:cNvPr>
          <p:cNvSpPr txBox="1"/>
          <p:nvPr/>
        </p:nvSpPr>
        <p:spPr>
          <a:xfrm>
            <a:off x="2648935" y="7411777"/>
            <a:ext cx="2439817" cy="1955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경기도공무원인재개발원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부산시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공무원인재개발원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부천시청 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식약처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광주시청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대구대학교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㈜신영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연수구청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광주시교통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공사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충북콘텐츠코리아랩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부천시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6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개중학교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현대백화점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인재개발원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거창평생교육원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부천시상동종합사회지관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안산</a:t>
            </a:r>
            <a:endParaRPr lang="en-US" altLang="ko-KR" sz="127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상공회의소 </a:t>
            </a:r>
            <a:r>
              <a:rPr lang="en-US" altLang="ko-KR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</a:t>
            </a:r>
            <a:r>
              <a:rPr lang="ko-KR" altLang="en-US" sz="127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 게임등위원 등 다수</a:t>
            </a:r>
            <a:endParaRPr lang="en-US" sz="1271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pic>
        <p:nvPicPr>
          <p:cNvPr id="143" name="그림 142">
            <a:extLst>
              <a:ext uri="{FF2B5EF4-FFF2-40B4-BE49-F238E27FC236}">
                <a16:creationId xmlns:a16="http://schemas.microsoft.com/office/drawing/2014/main" id="{F044F47F-9CF8-68F7-8AC2-BE1B66D4A4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49" y="7932255"/>
            <a:ext cx="839671" cy="119926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CF11A181-0D07-834A-5655-292E4A2522F5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808840" y="7901631"/>
            <a:ext cx="839677" cy="1199072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4759F107-2646-CF55-8835-E5E0F5AE9ECD}"/>
              </a:ext>
            </a:extLst>
          </p:cNvPr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531615" y="7848266"/>
            <a:ext cx="839677" cy="1199072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146" name="TextBox 54">
            <a:extLst>
              <a:ext uri="{FF2B5EF4-FFF2-40B4-BE49-F238E27FC236}">
                <a16:creationId xmlns:a16="http://schemas.microsoft.com/office/drawing/2014/main" id="{ED237DEA-98B2-2464-F471-53D3C4BFE340}"/>
              </a:ext>
            </a:extLst>
          </p:cNvPr>
          <p:cNvSpPr txBox="1"/>
          <p:nvPr/>
        </p:nvSpPr>
        <p:spPr>
          <a:xfrm>
            <a:off x="264950" y="7572022"/>
            <a:ext cx="812736" cy="279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87"/>
              </a:lnSpc>
            </a:pPr>
            <a:r>
              <a:rPr lang="ko-KR" altLang="en-US" sz="1634" b="1"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저서</a:t>
            </a:r>
            <a:endParaRPr lang="en-US" sz="1634" b="1">
              <a:solidFill>
                <a:schemeClr val="bg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둥근펜 Bold"/>
              <a:sym typeface="둥근펜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207</Words>
  <Application>Microsoft Office PowerPoint</Application>
  <PresentationFormat>A4 용지(210x297mm)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둥근펜 Bold</vt:lpstr>
      <vt:lpstr>Aptos</vt:lpstr>
      <vt:lpstr>Aptos Display</vt:lpstr>
      <vt:lpstr>Arial</vt:lpstr>
      <vt:lpstr>나눔스퀘어_ac ExtraBold</vt:lpstr>
      <vt:lpstr>나눔스퀘어OTF_ac ExtraBold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jinee lee</dc:creator>
  <cp:lastModifiedBy>jinee lee</cp:lastModifiedBy>
  <cp:revision>1</cp:revision>
  <dcterms:created xsi:type="dcterms:W3CDTF">2026-02-13T13:59:38Z</dcterms:created>
  <dcterms:modified xsi:type="dcterms:W3CDTF">2026-02-13T14:03:20Z</dcterms:modified>
</cp:coreProperties>
</file>